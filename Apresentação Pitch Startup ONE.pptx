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0287000" cy="10287000"/>
  <p:notesSz cx="6858000" cy="9144000"/>
  <p:embeddedFontLst>
    <p:embeddedFont>
      <p:font typeface="Open Sans Bold" panose="020B0604020202020204" charset="0"/>
      <p:regular r:id="rId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2" d="100"/>
          <a:sy n="72" d="100"/>
        </p:scale>
        <p:origin x="2466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B98D619-2045-FBC6-5A29-9CC1E8D459A4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10071100"/>
            <a:ext cx="9207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Internal Use Only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0287000" cy="10287000"/>
          </a:xfrm>
          <a:custGeom>
            <a:avLst/>
            <a:gdLst/>
            <a:ahLst/>
            <a:cxnLst/>
            <a:rect l="l" t="t" r="r" b="b"/>
            <a:pathLst>
              <a:path w="10287000" h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2829250" y="3151262"/>
            <a:ext cx="4468267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2B4E5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EASYCIT É PARA TODOS!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559453" y="3863411"/>
            <a:ext cx="7168095" cy="13487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56"/>
              </a:lnSpc>
            </a:pPr>
            <a:r>
              <a:rPr lang="en-US" sz="3897" b="1" dirty="0" err="1">
                <a:solidFill>
                  <a:srgbClr val="2B4E5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viajar</a:t>
            </a:r>
            <a:r>
              <a:rPr lang="en-US" sz="3897" b="1" dirty="0">
                <a:solidFill>
                  <a:srgbClr val="2B4E5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é um </a:t>
            </a:r>
            <a:r>
              <a:rPr lang="en-US" sz="3897" b="1" dirty="0" err="1">
                <a:solidFill>
                  <a:srgbClr val="2B4E5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aprendizado</a:t>
            </a:r>
            <a:endParaRPr lang="en-US" sz="3897" b="1" dirty="0">
              <a:solidFill>
                <a:srgbClr val="2B4E59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  <a:p>
            <a:pPr marL="0" lvl="0" indent="0" algn="ctr">
              <a:lnSpc>
                <a:spcPts val="5456"/>
              </a:lnSpc>
              <a:spcBef>
                <a:spcPct val="0"/>
              </a:spcBef>
            </a:pPr>
            <a:r>
              <a:rPr lang="en-US" sz="3897" b="1" dirty="0">
                <a:solidFill>
                  <a:srgbClr val="2B4E5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de </a:t>
            </a:r>
            <a:r>
              <a:rPr lang="en-US" sz="3897" b="1" dirty="0" err="1">
                <a:solidFill>
                  <a:srgbClr val="2B4E5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vida</a:t>
            </a:r>
            <a:r>
              <a:rPr lang="en-US" sz="3897" b="1" dirty="0">
                <a:solidFill>
                  <a:srgbClr val="2B4E5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! </a:t>
            </a:r>
            <a:r>
              <a:rPr lang="en-US" sz="3897" b="1" dirty="0" err="1">
                <a:solidFill>
                  <a:srgbClr val="2B4E5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minha</a:t>
            </a:r>
            <a:r>
              <a:rPr lang="en-US" sz="3897" b="1" dirty="0">
                <a:solidFill>
                  <a:srgbClr val="2B4E5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  <a:r>
              <a:rPr lang="en-US" sz="3897" b="1" dirty="0" err="1">
                <a:solidFill>
                  <a:srgbClr val="2B4E5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terapia</a:t>
            </a:r>
            <a:r>
              <a:rPr lang="en-US" sz="3897" b="1" dirty="0">
                <a:solidFill>
                  <a:srgbClr val="2B4E5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!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357234" y="5411414"/>
            <a:ext cx="7601633" cy="5871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470"/>
              </a:lnSpc>
              <a:spcBef>
                <a:spcPct val="0"/>
              </a:spcBef>
            </a:pPr>
            <a:r>
              <a:rPr lang="en-US" sz="1764" b="1">
                <a:solidFill>
                  <a:srgbClr val="2B4E5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FALTA DE INFORMAÇÃO, ACESSIBILIDADE AO SEU BOLSO, ETINERÁRIOS CONFIÁVEIS, E INTEGRAÇÃO COM TUDO E TODOS</a:t>
            </a:r>
          </a:p>
        </p:txBody>
      </p:sp>
      <p:pic>
        <p:nvPicPr>
          <p:cNvPr id="7" name="Picture 6" descr="A group of people sitting around a table&#10;&#10;Description automatically generated">
            <a:extLst>
              <a:ext uri="{FF2B5EF4-FFF2-40B4-BE49-F238E27FC236}">
                <a16:creationId xmlns:a16="http://schemas.microsoft.com/office/drawing/2014/main" id="{E5160028-CFAC-C1D0-B14E-01D0F69638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" y="643"/>
            <a:ext cx="10285714" cy="1028571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0365482" cy="10365482"/>
          </a:xfrm>
          <a:custGeom>
            <a:avLst/>
            <a:gdLst/>
            <a:ahLst/>
            <a:cxnLst/>
            <a:rect l="l" t="t" r="r" b="b"/>
            <a:pathLst>
              <a:path w="10365482" h="10365482">
                <a:moveTo>
                  <a:pt x="0" y="0"/>
                </a:moveTo>
                <a:lnTo>
                  <a:pt x="10365482" y="0"/>
                </a:lnTo>
                <a:lnTo>
                  <a:pt x="10365482" y="10365482"/>
                </a:lnTo>
                <a:lnTo>
                  <a:pt x="0" y="1036548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 rot="-530097">
            <a:off x="30199" y="659553"/>
            <a:ext cx="1519089" cy="6629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56"/>
              </a:lnSpc>
              <a:spcBef>
                <a:spcPct val="0"/>
              </a:spcBef>
            </a:pPr>
            <a:r>
              <a:rPr lang="en-US" sz="3897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CARO!</a:t>
            </a:r>
          </a:p>
        </p:txBody>
      </p:sp>
      <p:sp>
        <p:nvSpPr>
          <p:cNvPr id="4" name="TextBox 4"/>
          <p:cNvSpPr txBox="1"/>
          <p:nvPr/>
        </p:nvSpPr>
        <p:spPr>
          <a:xfrm rot="916665">
            <a:off x="6072282" y="662439"/>
            <a:ext cx="3887814" cy="6590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19"/>
              </a:lnSpc>
              <a:spcBef>
                <a:spcPct val="0"/>
              </a:spcBef>
            </a:pPr>
            <a:r>
              <a:rPr lang="en-US" sz="3871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CONFIÁVEL?!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592081" y="1985734"/>
            <a:ext cx="4040672" cy="6819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32"/>
              </a:lnSpc>
              <a:spcBef>
                <a:spcPct val="0"/>
              </a:spcBef>
            </a:pPr>
            <a:r>
              <a:rPr lang="en-US" sz="4023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FRAUDE!</a:t>
            </a:r>
          </a:p>
        </p:txBody>
      </p:sp>
      <p:sp>
        <p:nvSpPr>
          <p:cNvPr id="6" name="TextBox 6"/>
          <p:cNvSpPr txBox="1"/>
          <p:nvPr/>
        </p:nvSpPr>
        <p:spPr>
          <a:xfrm rot="-939472">
            <a:off x="5449071" y="2072177"/>
            <a:ext cx="4040672" cy="6819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32"/>
              </a:lnSpc>
              <a:spcBef>
                <a:spcPct val="0"/>
              </a:spcBef>
            </a:pPr>
            <a:r>
              <a:rPr lang="en-US" sz="4023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TEMPO?</a:t>
            </a:r>
          </a:p>
        </p:txBody>
      </p:sp>
      <p:sp>
        <p:nvSpPr>
          <p:cNvPr id="7" name="TextBox 7"/>
          <p:cNvSpPr txBox="1"/>
          <p:nvPr/>
        </p:nvSpPr>
        <p:spPr>
          <a:xfrm rot="-1493439">
            <a:off x="555709" y="1059750"/>
            <a:ext cx="4040672" cy="6819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32"/>
              </a:lnSpc>
              <a:spcBef>
                <a:spcPct val="0"/>
              </a:spcBef>
            </a:pPr>
            <a:r>
              <a:rPr lang="en-US" sz="4023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SEGURO?!</a:t>
            </a:r>
          </a:p>
        </p:txBody>
      </p:sp>
      <p:sp>
        <p:nvSpPr>
          <p:cNvPr id="8" name="TextBox 8"/>
          <p:cNvSpPr txBox="1"/>
          <p:nvPr/>
        </p:nvSpPr>
        <p:spPr>
          <a:xfrm rot="1488984">
            <a:off x="3070031" y="786595"/>
            <a:ext cx="4493763" cy="759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64"/>
              </a:lnSpc>
              <a:spcBef>
                <a:spcPct val="0"/>
              </a:spcBef>
            </a:pPr>
            <a:r>
              <a:rPr lang="en-US" sz="4474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ÚNICO!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328762" y="8136558"/>
            <a:ext cx="7707957" cy="13691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36"/>
              </a:lnSpc>
              <a:spcBef>
                <a:spcPct val="0"/>
              </a:spcBef>
            </a:pPr>
            <a:r>
              <a:rPr lang="en-US" sz="1597" b="1">
                <a:solidFill>
                  <a:srgbClr val="F8F9FA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Turistas e moradores enfrentam o mesmo obstáculo:</a:t>
            </a:r>
          </a:p>
          <a:p>
            <a:pPr algn="ctr">
              <a:lnSpc>
                <a:spcPts val="2236"/>
              </a:lnSpc>
              <a:spcBef>
                <a:spcPct val="0"/>
              </a:spcBef>
            </a:pPr>
            <a:r>
              <a:rPr lang="en-US" sz="1597" b="1">
                <a:solidFill>
                  <a:srgbClr val="F8F9FA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Não existe uma plataforma única e confiável para planejar viagens baratas.</a:t>
            </a:r>
          </a:p>
          <a:p>
            <a:pPr algn="ctr">
              <a:lnSpc>
                <a:spcPts val="2236"/>
              </a:lnSpc>
              <a:spcBef>
                <a:spcPct val="0"/>
              </a:spcBef>
            </a:pPr>
            <a:r>
              <a:rPr lang="en-US" sz="1597" b="1">
                <a:solidFill>
                  <a:srgbClr val="F8F9FA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As informações estão espalhadas.</a:t>
            </a:r>
          </a:p>
          <a:p>
            <a:pPr algn="ctr">
              <a:lnSpc>
                <a:spcPts val="2236"/>
              </a:lnSpc>
              <a:spcBef>
                <a:spcPct val="0"/>
              </a:spcBef>
            </a:pPr>
            <a:r>
              <a:rPr lang="en-US" sz="1597" b="1">
                <a:solidFill>
                  <a:srgbClr val="F8F9FA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São confusas, desatualizadas, e nem sempre seguras.</a:t>
            </a:r>
          </a:p>
          <a:p>
            <a:pPr algn="ctr">
              <a:lnSpc>
                <a:spcPts val="2236"/>
              </a:lnSpc>
              <a:spcBef>
                <a:spcPct val="0"/>
              </a:spcBef>
            </a:pPr>
            <a:r>
              <a:rPr lang="en-US" sz="1597" b="1">
                <a:solidFill>
                  <a:srgbClr val="F8F9FA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Resultado: experiências frustradas e perda de tempo e dinheiro.</a:t>
            </a:r>
          </a:p>
        </p:txBody>
      </p:sp>
      <p:pic>
        <p:nvPicPr>
          <p:cNvPr id="11" name="Picture 10" descr="A group of people sitting at a table with papers flying in the air&#10;&#10;Description automatically generated">
            <a:extLst>
              <a:ext uri="{FF2B5EF4-FFF2-40B4-BE49-F238E27FC236}">
                <a16:creationId xmlns:a16="http://schemas.microsoft.com/office/drawing/2014/main" id="{5FD357D6-7D8A-EAE1-744C-405FFACD0B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" y="643"/>
            <a:ext cx="10285714" cy="1028571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0287000" cy="10287000"/>
          </a:xfrm>
          <a:custGeom>
            <a:avLst/>
            <a:gdLst/>
            <a:ahLst/>
            <a:cxnLst/>
            <a:rect l="l" t="t" r="r" b="b"/>
            <a:pathLst>
              <a:path w="10287000" h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5143500" y="9258300"/>
            <a:ext cx="2801963" cy="596868"/>
          </a:xfrm>
          <a:custGeom>
            <a:avLst/>
            <a:gdLst/>
            <a:ahLst/>
            <a:cxnLst/>
            <a:rect l="l" t="t" r="r" b="b"/>
            <a:pathLst>
              <a:path w="2801963" h="596868">
                <a:moveTo>
                  <a:pt x="0" y="0"/>
                </a:moveTo>
                <a:lnTo>
                  <a:pt x="2801963" y="0"/>
                </a:lnTo>
                <a:lnTo>
                  <a:pt x="2801963" y="596868"/>
                </a:lnTo>
                <a:lnTo>
                  <a:pt x="0" y="5968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245244" y="753064"/>
            <a:ext cx="10041756" cy="41216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08"/>
              </a:lnSpc>
            </a:pPr>
            <a:r>
              <a:rPr lang="en-US" sz="2149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🌍 1,4 bilhão de turistas viajam pelo mundo todos os anos.</a:t>
            </a:r>
          </a:p>
          <a:p>
            <a:pPr algn="ctr">
              <a:lnSpc>
                <a:spcPts val="3008"/>
              </a:lnSpc>
            </a:pPr>
            <a:r>
              <a:rPr lang="en-US" sz="2149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💸 40% buscam viagens personalizadas, econômicas e autênticas.</a:t>
            </a:r>
          </a:p>
          <a:p>
            <a:pPr algn="ctr">
              <a:lnSpc>
                <a:spcPts val="3008"/>
              </a:lnSpc>
            </a:pPr>
            <a:r>
              <a:rPr lang="en-US" sz="2149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❌ A maioria enfrenta dificuldade para planejar com baixo custo e autonomia.</a:t>
            </a:r>
          </a:p>
          <a:p>
            <a:pPr algn="ctr">
              <a:lnSpc>
                <a:spcPts val="3008"/>
              </a:lnSpc>
            </a:pPr>
            <a:r>
              <a:rPr lang="en-US" sz="2149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🇧🇷 No Brasil, são mais de 60 milhões de viagens anuais, muitas de curta duração e com orçamento limitado.</a:t>
            </a:r>
          </a:p>
          <a:p>
            <a:pPr algn="ctr">
              <a:lnSpc>
                <a:spcPts val="3008"/>
              </a:lnSpc>
            </a:pPr>
            <a:r>
              <a:rPr lang="en-US" sz="2149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🔎 Hoje, não existe uma plataforma centralizada que ofereça roteiros inteligentes, colaborativos e acessíveis.</a:t>
            </a:r>
          </a:p>
          <a:p>
            <a:pPr algn="ctr">
              <a:lnSpc>
                <a:spcPts val="3008"/>
              </a:lnSpc>
              <a:spcBef>
                <a:spcPct val="0"/>
              </a:spcBef>
            </a:pPr>
            <a:r>
              <a:rPr lang="en-US" sz="2149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🎯 O EasyCit entra nesse espaço: turismo acessível, com inteligência coletiva e foco em autonomia.</a:t>
            </a:r>
          </a:p>
          <a:p>
            <a:pPr algn="ctr">
              <a:lnSpc>
                <a:spcPts val="3008"/>
              </a:lnSpc>
              <a:spcBef>
                <a:spcPct val="0"/>
              </a:spcBef>
            </a:pPr>
            <a:endParaRPr lang="en-US" sz="2149" b="1">
              <a:solidFill>
                <a:srgbClr val="FFFFFF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  <p:pic>
        <p:nvPicPr>
          <p:cNvPr id="6" name="Picture 5" descr="A group of people walking down a street&#10;&#10;Description automatically generated">
            <a:extLst>
              <a:ext uri="{FF2B5EF4-FFF2-40B4-BE49-F238E27FC236}">
                <a16:creationId xmlns:a16="http://schemas.microsoft.com/office/drawing/2014/main" id="{B2B15B25-8062-3E95-0C38-A3F693E61D3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" y="643"/>
            <a:ext cx="10285714" cy="1028571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0349934" cy="10349934"/>
          </a:xfrm>
          <a:custGeom>
            <a:avLst/>
            <a:gdLst/>
            <a:ahLst/>
            <a:cxnLst/>
            <a:rect l="l" t="t" r="r" b="b"/>
            <a:pathLst>
              <a:path w="10349934" h="10349934">
                <a:moveTo>
                  <a:pt x="0" y="0"/>
                </a:moveTo>
                <a:lnTo>
                  <a:pt x="10349934" y="0"/>
                </a:lnTo>
                <a:lnTo>
                  <a:pt x="10349934" y="10349934"/>
                </a:lnTo>
                <a:lnTo>
                  <a:pt x="0" y="1034993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754546" y="7202908"/>
            <a:ext cx="12037050" cy="30840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35"/>
              </a:lnSpc>
              <a:spcBef>
                <a:spcPct val="0"/>
              </a:spcBef>
            </a:pPr>
            <a:r>
              <a:rPr lang="en-US" sz="1954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🗺️ Mapas interativos</a:t>
            </a:r>
          </a:p>
          <a:p>
            <a:pPr algn="l">
              <a:lnSpc>
                <a:spcPts val="2735"/>
              </a:lnSpc>
              <a:spcBef>
                <a:spcPct val="0"/>
              </a:spcBef>
            </a:pPr>
            <a:r>
              <a:rPr lang="en-US" sz="1954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Visualização clara de rotas, atrações e deslocamentos.</a:t>
            </a:r>
          </a:p>
          <a:p>
            <a:pPr algn="l">
              <a:lnSpc>
                <a:spcPts val="2735"/>
              </a:lnSpc>
              <a:spcBef>
                <a:spcPct val="0"/>
              </a:spcBef>
            </a:pPr>
            <a:r>
              <a:rPr lang="en-US" sz="1954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🧭 Roteiros personalizáveis automáticos</a:t>
            </a:r>
          </a:p>
          <a:p>
            <a:pPr algn="l">
              <a:lnSpc>
                <a:spcPts val="2735"/>
              </a:lnSpc>
              <a:spcBef>
                <a:spcPct val="0"/>
              </a:spcBef>
            </a:pPr>
            <a:r>
              <a:rPr lang="en-US" sz="1954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Criados com base no tempo, orçamento e preferências do usuário.</a:t>
            </a:r>
          </a:p>
          <a:p>
            <a:pPr algn="l">
              <a:lnSpc>
                <a:spcPts val="2735"/>
              </a:lnSpc>
              <a:spcBef>
                <a:spcPct val="0"/>
              </a:spcBef>
            </a:pPr>
            <a:r>
              <a:rPr lang="en-US" sz="1954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👤 Perfil de usuário Personalizado</a:t>
            </a:r>
          </a:p>
          <a:p>
            <a:pPr algn="l">
              <a:lnSpc>
                <a:spcPts val="2735"/>
              </a:lnSpc>
              <a:spcBef>
                <a:spcPct val="0"/>
              </a:spcBef>
            </a:pPr>
            <a:r>
              <a:rPr lang="en-US" sz="1954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Com diário de viagem, favoritos e sistema de avaliações reais.</a:t>
            </a:r>
          </a:p>
          <a:p>
            <a:pPr algn="l">
              <a:lnSpc>
                <a:spcPts val="2735"/>
              </a:lnSpc>
              <a:spcBef>
                <a:spcPct val="0"/>
              </a:spcBef>
            </a:pPr>
            <a:r>
              <a:rPr lang="en-US" sz="1954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🔍 Foco no essencial, seja objetivo na sua jornada:</a:t>
            </a:r>
          </a:p>
          <a:p>
            <a:pPr algn="l">
              <a:lnSpc>
                <a:spcPts val="2735"/>
              </a:lnSpc>
              <a:spcBef>
                <a:spcPct val="0"/>
              </a:spcBef>
            </a:pPr>
            <a:r>
              <a:rPr lang="en-US" sz="1954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Experiência direta, fácil de usar e com autonomia total para o viajante.</a:t>
            </a:r>
          </a:p>
          <a:p>
            <a:pPr algn="l">
              <a:lnSpc>
                <a:spcPts val="2735"/>
              </a:lnSpc>
              <a:spcBef>
                <a:spcPct val="0"/>
              </a:spcBef>
            </a:pPr>
            <a:endParaRPr lang="en-US" sz="1954" b="1">
              <a:solidFill>
                <a:srgbClr val="000000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  <p:pic>
        <p:nvPicPr>
          <p:cNvPr id="5" name="Picture 4" descr="A hand holding a phone with a map on it&#10;&#10;Description automatically generated">
            <a:extLst>
              <a:ext uri="{FF2B5EF4-FFF2-40B4-BE49-F238E27FC236}">
                <a16:creationId xmlns:a16="http://schemas.microsoft.com/office/drawing/2014/main" id="{47321FF0-21D5-2A1C-0C76-244C3B3A9A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" y="643"/>
            <a:ext cx="10285714" cy="1028571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260</Words>
  <Application>Microsoft Office PowerPoint</Application>
  <PresentationFormat>Custom</PresentationFormat>
  <Paragraphs>29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Open Sans Bold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Texto do seu parágrafo</dc:title>
  <dc:creator>Vioto, Giovani</dc:creator>
  <cp:lastModifiedBy>Vioto, Giovani</cp:lastModifiedBy>
  <cp:revision>2</cp:revision>
  <dcterms:created xsi:type="dcterms:W3CDTF">2006-08-16T00:00:00Z</dcterms:created>
  <dcterms:modified xsi:type="dcterms:W3CDTF">2025-04-14T14:56:03Z</dcterms:modified>
  <dc:identifier>DAGkngcan1E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38dfde47-f100-441b-b584-049a7fefba8a_Enabled">
    <vt:lpwstr>true</vt:lpwstr>
  </property>
  <property fmtid="{D5CDD505-2E9C-101B-9397-08002B2CF9AE}" pid="3" name="MSIP_Label_38dfde47-f100-441b-b584-049a7fefba8a_SetDate">
    <vt:lpwstr>2025-04-14T14:55:17Z</vt:lpwstr>
  </property>
  <property fmtid="{D5CDD505-2E9C-101B-9397-08002B2CF9AE}" pid="4" name="MSIP_Label_38dfde47-f100-441b-b584-049a7fefba8a_Method">
    <vt:lpwstr>Standard</vt:lpwstr>
  </property>
  <property fmtid="{D5CDD505-2E9C-101B-9397-08002B2CF9AE}" pid="5" name="MSIP_Label_38dfde47-f100-441b-b584-049a7fefba8a_Name">
    <vt:lpwstr>38dfde47-f100-441b-b584-049a7fefba8a</vt:lpwstr>
  </property>
  <property fmtid="{D5CDD505-2E9C-101B-9397-08002B2CF9AE}" pid="6" name="MSIP_Label_38dfde47-f100-441b-b584-049a7fefba8a_SiteId">
    <vt:lpwstr>16e7cf3f-6af4-4e76-941e-aecafb9704e9</vt:lpwstr>
  </property>
  <property fmtid="{D5CDD505-2E9C-101B-9397-08002B2CF9AE}" pid="7" name="MSIP_Label_38dfde47-f100-441b-b584-049a7fefba8a_ActionId">
    <vt:lpwstr>4a20a286-cacd-41d7-bf56-9673d02f8029</vt:lpwstr>
  </property>
  <property fmtid="{D5CDD505-2E9C-101B-9397-08002B2CF9AE}" pid="8" name="MSIP_Label_38dfde47-f100-441b-b584-049a7fefba8a_ContentBits">
    <vt:lpwstr>2</vt:lpwstr>
  </property>
  <property fmtid="{D5CDD505-2E9C-101B-9397-08002B2CF9AE}" pid="9" name="ClassificationContentMarkingFooterLocations">
    <vt:lpwstr>Office Theme:8</vt:lpwstr>
  </property>
  <property fmtid="{D5CDD505-2E9C-101B-9397-08002B2CF9AE}" pid="10" name="ClassificationContentMarkingFooterText">
    <vt:lpwstr>Internal Use Only</vt:lpwstr>
  </property>
</Properties>
</file>